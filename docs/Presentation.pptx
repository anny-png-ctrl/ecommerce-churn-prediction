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67528" y="1188720"/>
            <a:ext cx="1463040" cy="146304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1E2761"/>
                </a:solidFill>
              </a:rPr>
              <a:t>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80360"/>
            <a:ext cx="103601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Predicting E-Commerce Customer Churn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862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ADCFC"/>
                </a:solidFill>
                <a:latin typeface="Calibri"/>
              </a:rPr>
              <a:t>A Business Analytics ML Project —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FB4E8"/>
                </a:solidFill>
                <a:latin typeface="Calibri"/>
              </a:rPr>
              <a:t>github.com/Anny-png-ctrl/ecommerce-churn-prediction   |   ecommerce-churn-prediction-vym2kejtfbsm8h8we6tmtc.streamlit.app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The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b="1" sz="1600">
                <a:solidFill>
                  <a:srgbClr val="212121"/>
                </a:solidFill>
                <a:latin typeface="Calibri"/>
              </a:rPr>
              <a:t>●  Churn erodes recurring revenue.</a:t>
            </a:r>
            <a:r>
              <a:rPr sz="1600">
                <a:solidFill>
                  <a:srgbClr val="212121"/>
                </a:solidFill>
                <a:latin typeface="Calibri"/>
              </a:rPr>
              <a:t> Losing customers directly cuts repeat purchases and lifetime value.</a:t>
            </a:r>
          </a:p>
          <a:p>
            <a:pPr algn="l">
              <a:spcAft>
                <a:spcPts val="1800"/>
              </a:spcAft>
            </a:pPr>
            <a:r>
              <a:rPr b="1" sz="1600">
                <a:solidFill>
                  <a:srgbClr val="212121"/>
                </a:solidFill>
                <a:latin typeface="Calibri"/>
              </a:rPr>
              <a:t>●  Retention beats acquisition cost.</a:t>
            </a:r>
            <a:r>
              <a:rPr sz="1600">
                <a:solidFill>
                  <a:srgbClr val="212121"/>
                </a:solidFill>
                <a:latin typeface="Calibri"/>
              </a:rPr>
              <a:t> Winning back an at-risk customer is far cheaper than acquiring a new one.</a:t>
            </a:r>
          </a:p>
          <a:p>
            <a:pPr algn="l">
              <a:spcAft>
                <a:spcPts val="1800"/>
              </a:spcAft>
            </a:pPr>
            <a:r>
              <a:rPr b="1" sz="1600">
                <a:solidFill>
                  <a:srgbClr val="212121"/>
                </a:solidFill>
                <a:latin typeface="Calibri"/>
              </a:rPr>
              <a:t>●  Retention today is reactive &amp; uniform.</a:t>
            </a:r>
            <a:r>
              <a:rPr sz="1600">
                <a:solidFill>
                  <a:srgbClr val="212121"/>
                </a:solidFill>
                <a:latin typeface="Calibri"/>
              </a:rPr>
              <a:t> Discounts and outreach are applied broadly, wasting budget on customers who wouldn't have churned anyway.</a:t>
            </a:r>
          </a:p>
          <a:p>
            <a:pPr algn="l">
              <a:spcAft>
                <a:spcPts val="1800"/>
              </a:spcAft>
            </a:pPr>
            <a:r>
              <a:rPr b="1" sz="1600">
                <a:solidFill>
                  <a:srgbClr val="212121"/>
                </a:solidFill>
                <a:latin typeface="Calibri"/>
              </a:rPr>
              <a:t>●  We need to know: who, why, and what to do.</a:t>
            </a:r>
            <a:r>
              <a:rPr sz="1600">
                <a:solidFill>
                  <a:srgbClr val="212121"/>
                </a:solidFill>
                <a:latin typeface="Calibri"/>
              </a:rPr>
              <a:t> Score customers, explain the drivers, and recommend a specific action.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0" y="1463040"/>
            <a:ext cx="4663440" cy="4206240"/>
          </a:xfrm>
          <a:prstGeom prst="roundRect">
            <a:avLst>
              <a:gd name="adj" fmla="val 6000"/>
            </a:avLst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/>
          <a:lstStyle/>
          <a:p>
            <a:pPr algn="ctr"/>
            <a:r>
              <a:rPr sz="4800" b="1">
                <a:solidFill>
                  <a:srgbClr val="C62828"/>
                </a:solidFill>
              </a:rPr>
              <a:t>16.8%</a:t>
            </a:r>
          </a:p>
          <a:p>
            <a:pPr algn="ctr"/>
            <a:r>
              <a:rPr sz="1500">
                <a:solidFill>
                  <a:srgbClr val="595959"/>
                </a:solidFill>
              </a:rPr>
              <a:t>of customers in our dataset churned</a:t>
            </a:r>
          </a:p>
          <a:p>
            <a:pPr algn="ctr">
              <a:spcBef>
                <a:spcPts val="2000"/>
              </a:spcBef>
            </a:pPr>
            <a:r>
              <a:rPr sz="1400">
                <a:solidFill>
                  <a:srgbClr val="212121"/>
                </a:solidFill>
              </a:rPr>
              <a:t>Goal: catch them before they leave,</a:t>
            </a:r>
          </a:p>
          <a:p>
            <a:pPr algn="ctr"/>
            <a:r>
              <a:rPr sz="1400">
                <a:solidFill>
                  <a:srgbClr val="212121"/>
                </a:solidFill>
              </a:rPr>
              <a:t>not after.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E-Commerce Customer Churn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The Dataset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3400" b="1">
                <a:solidFill>
                  <a:srgbClr val="1E2761"/>
                </a:solidFill>
              </a:rPr>
              <a:t>5,630</a:t>
            </a:r>
          </a:p>
          <a:p>
            <a:pPr algn="ctr"/>
            <a:r>
              <a:rPr sz="1200">
                <a:solidFill>
                  <a:srgbClr val="595959"/>
                </a:solidFill>
              </a:rPr>
              <a:t>customers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7560" y="137160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3400" b="1">
                <a:solidFill>
                  <a:srgbClr val="1E2761"/>
                </a:solidFill>
              </a:rPr>
              <a:t>20</a:t>
            </a:r>
          </a:p>
          <a:p>
            <a:pPr algn="ctr"/>
            <a:r>
              <a:rPr sz="1200">
                <a:solidFill>
                  <a:srgbClr val="595959"/>
                </a:solidFill>
              </a:rPr>
              <a:t>columns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79" y="137160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3400" b="1">
                <a:solidFill>
                  <a:srgbClr val="1E2761"/>
                </a:solidFill>
              </a:rPr>
              <a:t>16.8%</a:t>
            </a:r>
          </a:p>
          <a:p>
            <a:pPr algn="ctr"/>
            <a:r>
              <a:rPr sz="1200">
                <a:solidFill>
                  <a:srgbClr val="595959"/>
                </a:solidFill>
              </a:rPr>
              <a:t>churn 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399" y="137160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3400" b="1">
                <a:solidFill>
                  <a:srgbClr val="1E2761"/>
                </a:solidFill>
              </a:rPr>
              <a:t>0</a:t>
            </a:r>
          </a:p>
          <a:p>
            <a:pPr algn="ctr"/>
            <a:r>
              <a:rPr sz="1200">
                <a:solidFill>
                  <a:srgbClr val="595959"/>
                </a:solidFill>
              </a:rPr>
              <a:t>duplicate IDs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Feature groups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b="1" sz="1500">
                <a:solidFill>
                  <a:srgbClr val="212121"/>
                </a:solidFill>
                <a:latin typeface="Calibri"/>
              </a:rPr>
              <a:t>●  Demographics: </a:t>
            </a:r>
            <a:r>
              <a:rPr sz="1500">
                <a:solidFill>
                  <a:srgbClr val="212121"/>
                </a:solidFill>
                <a:latin typeface="Calibri"/>
              </a:rPr>
              <a:t>Gender, Marital Status, City Tier</a:t>
            </a:r>
          </a:p>
          <a:p>
            <a:pPr algn="l">
              <a:spcAft>
                <a:spcPts val="1000"/>
              </a:spcAft>
            </a:pPr>
            <a:r>
              <a:rPr b="1" sz="1500">
                <a:solidFill>
                  <a:srgbClr val="212121"/>
                </a:solidFill>
                <a:latin typeface="Calibri"/>
              </a:rPr>
              <a:t>●  App usage: </a:t>
            </a:r>
            <a:r>
              <a:rPr sz="1500">
                <a:solidFill>
                  <a:srgbClr val="212121"/>
                </a:solidFill>
                <a:latin typeface="Calibri"/>
              </a:rPr>
              <a:t>Hours on app, devices registered, preferred login device</a:t>
            </a:r>
          </a:p>
          <a:p>
            <a:pPr algn="l">
              <a:spcAft>
                <a:spcPts val="1000"/>
              </a:spcAft>
            </a:pPr>
            <a:r>
              <a:rPr b="1" sz="1500">
                <a:solidFill>
                  <a:srgbClr val="212121"/>
                </a:solidFill>
                <a:latin typeface="Calibri"/>
              </a:rPr>
              <a:t>●  Order behaviour: </a:t>
            </a:r>
            <a:r>
              <a:rPr sz="1500">
                <a:solidFill>
                  <a:srgbClr val="212121"/>
                </a:solidFill>
                <a:latin typeface="Calibri"/>
              </a:rPr>
              <a:t>Order count, YoY order hike, coupons used, days since last order, order category</a:t>
            </a:r>
          </a:p>
          <a:p>
            <a:pPr algn="l">
              <a:spcAft>
                <a:spcPts val="1000"/>
              </a:spcAft>
            </a:pPr>
            <a:r>
              <a:rPr b="1" sz="1500">
                <a:solidFill>
                  <a:srgbClr val="212121"/>
                </a:solidFill>
                <a:latin typeface="Calibri"/>
              </a:rPr>
              <a:t>●  Relationship: </a:t>
            </a:r>
            <a:r>
              <a:rPr sz="1500">
                <a:solidFill>
                  <a:srgbClr val="212121"/>
                </a:solidFill>
                <a:latin typeface="Calibri"/>
              </a:rPr>
              <a:t>Tenure, addresses, warehouse-to-home distance</a:t>
            </a:r>
          </a:p>
          <a:p>
            <a:pPr algn="l">
              <a:spcAft>
                <a:spcPts val="1000"/>
              </a:spcAft>
            </a:pPr>
            <a:r>
              <a:rPr b="1" sz="1500">
                <a:solidFill>
                  <a:srgbClr val="212121"/>
                </a:solidFill>
                <a:latin typeface="Calibri"/>
              </a:rPr>
              <a:t>●  Satisfaction: </a:t>
            </a:r>
            <a:r>
              <a:rPr sz="1500">
                <a:solidFill>
                  <a:srgbClr val="212121"/>
                </a:solidFill>
                <a:latin typeface="Calibri"/>
              </a:rPr>
              <a:t>Satisfaction score, complaint flag, cashback amount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350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Source: Kaggle “E-Commerce Dataset” (public)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E-Commerce Customer Churn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Methodology: End-to-End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468880"/>
            <a:ext cx="141732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Business
Problem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965960" y="2999232"/>
            <a:ext cx="190500" cy="32004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156460" y="2468880"/>
            <a:ext cx="1417320" cy="13716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E2761"/>
                </a:solidFill>
              </a:rPr>
              <a:t>Dataset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573780" y="2999232"/>
            <a:ext cx="190500" cy="32004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764279" y="2468880"/>
            <a:ext cx="141732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Data Prep
&amp; EDA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181599" y="2999232"/>
            <a:ext cx="190500" cy="32004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72100" y="2468880"/>
            <a:ext cx="1417320" cy="13716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E2761"/>
                </a:solidFill>
              </a:rPr>
              <a:t>ML Model
(Random
Forest)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789420" y="2999232"/>
            <a:ext cx="190500" cy="32004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79920" y="2468880"/>
            <a:ext cx="141732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Evaluation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397240" y="2999232"/>
            <a:ext cx="190500" cy="32004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87740" y="2468880"/>
            <a:ext cx="1417320" cy="13716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E2761"/>
                </a:solidFill>
              </a:rPr>
              <a:t>Streamlit
App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0005060" y="2999232"/>
            <a:ext cx="190500" cy="32004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195560" y="2468880"/>
            <a:ext cx="141732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GitHub +
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8912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b="1" sz="1500">
                <a:solidFill>
                  <a:srgbClr val="212121"/>
                </a:solidFill>
                <a:latin typeface="Calibri"/>
              </a:rPr>
              <a:t>●  Preprocessing pipeline: </a:t>
            </a:r>
            <a:r>
              <a:rPr sz="1500">
                <a:solidFill>
                  <a:srgbClr val="212121"/>
                </a:solidFill>
                <a:latin typeface="Calibri"/>
              </a:rPr>
              <a:t>median imputation + scaling (numeric), most-frequent imputation + one-hot encoding (categorical)</a:t>
            </a:r>
          </a:p>
          <a:p>
            <a:pPr algn="l">
              <a:spcAft>
                <a:spcPts val="1000"/>
              </a:spcAft>
            </a:pPr>
            <a:r>
              <a:rPr b="1" sz="1500">
                <a:solidFill>
                  <a:srgbClr val="212121"/>
                </a:solidFill>
                <a:latin typeface="Calibri"/>
              </a:rPr>
              <a:t>●  Model: </a:t>
            </a:r>
            <a:r>
              <a:rPr sz="1500">
                <a:solidFill>
                  <a:srgbClr val="212121"/>
                </a:solidFill>
                <a:latin typeface="Calibri"/>
              </a:rPr>
              <a:t>Random Forest, 300 trees, class-weight balanced for the ~17% churn class</a:t>
            </a:r>
          </a:p>
          <a:p>
            <a:pPr algn="l">
              <a:spcAft>
                <a:spcPts val="1000"/>
              </a:spcAft>
            </a:pPr>
            <a:r>
              <a:rPr b="1" sz="1500">
                <a:solidFill>
                  <a:srgbClr val="212121"/>
                </a:solidFill>
                <a:latin typeface="Calibri"/>
              </a:rPr>
              <a:t>●  Split: </a:t>
            </a:r>
            <a:r>
              <a:rPr sz="1500">
                <a:solidFill>
                  <a:srgbClr val="212121"/>
                </a:solidFill>
                <a:latin typeface="Calibri"/>
              </a:rPr>
              <a:t>80/20 train/test, stratified by churn label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E-Commerce Customer Churn Prediction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What the Data Told Us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554480"/>
            <a:ext cx="822960" cy="8229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59" y="25146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E2761"/>
                </a:solidFill>
                <a:latin typeface="Calibri"/>
              </a:rPr>
              <a:t>Recency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59" y="301752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12121"/>
                </a:solidFill>
                <a:latin typeface="Calibri"/>
              </a:rPr>
              <a:t>Customers inactive longer, or with shorter tenure, churn far more.</a:t>
            </a:r>
          </a:p>
        </p:txBody>
      </p:sp>
      <p:sp>
        <p:nvSpPr>
          <p:cNvPr id="6" name="Oval 5"/>
          <p:cNvSpPr/>
          <p:nvPr/>
        </p:nvSpPr>
        <p:spPr>
          <a:xfrm>
            <a:off x="4434840" y="1554480"/>
            <a:ext cx="822960" cy="8229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25146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E2761"/>
                </a:solidFill>
                <a:latin typeface="Calibri"/>
              </a:rPr>
              <a:t>Complaints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301752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12121"/>
                </a:solidFill>
                <a:latin typeface="Calibri"/>
              </a:rPr>
              <a:t>Customers who filed a complaint churn at a much higher rate.</a:t>
            </a:r>
          </a:p>
        </p:txBody>
      </p:sp>
      <p:sp>
        <p:nvSpPr>
          <p:cNvPr id="9" name="Oval 8"/>
          <p:cNvSpPr/>
          <p:nvPr/>
        </p:nvSpPr>
        <p:spPr>
          <a:xfrm>
            <a:off x="8229600" y="1554480"/>
            <a:ext cx="822960" cy="8229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5146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E2761"/>
                </a:solidFill>
                <a:latin typeface="Calibri"/>
              </a:rPr>
              <a:t>Satisfaction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301752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12121"/>
                </a:solidFill>
                <a:latin typeface="Calibri"/>
              </a:rPr>
              <a:t>Lower satisfaction scores correlate strongly with churn.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2064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595959"/>
                </a:solidFill>
                <a:latin typeface="Calibri"/>
              </a:rPr>
              <a:t>These three signals — recency, complaints, satisfaction — turned out to be the model's top predictors too, confirming the EDA quantitatively.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E-Commerce Customer Churn Prediction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Model Performance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6517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3400" b="1">
                <a:solidFill>
                  <a:srgbClr val="1E2761"/>
                </a:solidFill>
              </a:rPr>
              <a:t>95.9%</a:t>
            </a:r>
          </a:p>
          <a:p>
            <a:pPr algn="ctr"/>
            <a:r>
              <a:rPr sz="1200">
                <a:solidFill>
                  <a:srgbClr val="595959"/>
                </a:solidFill>
              </a:rPr>
              <a:t>Accuracy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7560" y="1371600"/>
            <a:ext cx="26517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3400" b="1">
                <a:solidFill>
                  <a:srgbClr val="2E7D32"/>
                </a:solidFill>
              </a:rPr>
              <a:t>87.9%</a:t>
            </a:r>
          </a:p>
          <a:p>
            <a:pPr algn="ctr"/>
            <a:r>
              <a:rPr sz="1200">
                <a:solidFill>
                  <a:srgbClr val="595959"/>
                </a:solidFill>
              </a:rPr>
              <a:t>Recall (Churn)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79" y="1371600"/>
            <a:ext cx="26517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3400" b="1">
                <a:solidFill>
                  <a:srgbClr val="2E7D32"/>
                </a:solidFill>
              </a:rPr>
              <a:t>87.9%</a:t>
            </a:r>
          </a:p>
          <a:p>
            <a:pPr algn="ctr"/>
            <a:r>
              <a:rPr sz="1200">
                <a:solidFill>
                  <a:srgbClr val="595959"/>
                </a:solidFill>
              </a:rPr>
              <a:t>Precision (Churn)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399" y="1371600"/>
            <a:ext cx="26517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3400" b="1">
                <a:solidFill>
                  <a:srgbClr val="2E7D32"/>
                </a:solidFill>
              </a:rPr>
              <a:t>0.991</a:t>
            </a:r>
          </a:p>
          <a:p>
            <a:pPr algn="ctr"/>
            <a:r>
              <a:rPr sz="1200">
                <a:solidFill>
                  <a:srgbClr val="595959"/>
                </a:solidFill>
              </a:rPr>
              <a:t>ROC-AUC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461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Why Recall Matters Most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0332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b="1" sz="1500">
                <a:solidFill>
                  <a:srgbClr val="212121"/>
                </a:solidFill>
                <a:latin typeface="Calibri"/>
              </a:rPr>
              <a:t>●  Missing a churner </a:t>
            </a:r>
            <a:r>
              <a:rPr sz="1500">
                <a:solidFill>
                  <a:srgbClr val="212121"/>
                </a:solidFill>
                <a:latin typeface="Calibri"/>
              </a:rPr>
              <a:t>(false negative) costs a lost customer — expensive.</a:t>
            </a:r>
          </a:p>
          <a:p>
            <a:pPr algn="l">
              <a:spcAft>
                <a:spcPts val="1200"/>
              </a:spcAft>
            </a:pPr>
            <a:r>
              <a:rPr b="1" sz="1500">
                <a:solidFill>
                  <a:srgbClr val="212121"/>
                </a:solidFill>
                <a:latin typeface="Calibri"/>
              </a:rPr>
              <a:t>●  Flagging a loyal customer </a:t>
            </a:r>
            <a:r>
              <a:rPr sz="1500">
                <a:solidFill>
                  <a:srgbClr val="212121"/>
                </a:solidFill>
                <a:latin typeface="Calibri"/>
              </a:rPr>
              <a:t>(false positive) only costs a modest, low-risk offer.</a:t>
            </a:r>
          </a:p>
          <a:p>
            <a:pPr algn="l">
              <a:spcAft>
                <a:spcPts val="1200"/>
              </a:spcAft>
            </a:pPr>
            <a:r>
              <a:rPr b="1" sz="1500">
                <a:solidFill>
                  <a:srgbClr val="212121"/>
                </a:solidFill>
                <a:latin typeface="Calibri"/>
              </a:rPr>
              <a:t>●  87.9% recall </a:t>
            </a:r>
            <a:r>
              <a:rPr sz="1500">
                <a:solidFill>
                  <a:srgbClr val="212121"/>
                </a:solidFill>
                <a:latin typeface="Calibri"/>
              </a:rPr>
              <a:t>means we catch the large majority of customers who are actually about to churn.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E-Commerce Customer Churn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Business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77800"/>
          <a:lstStyle/>
          <a:p>
            <a:pPr algn="ctr"/>
            <a:r>
              <a:rPr sz="1700" b="1">
                <a:solidFill>
                  <a:srgbClr val="1E2761"/>
                </a:solidFill>
              </a:rPr>
              <a:t>Trigger win-back campaigns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212121"/>
                </a:solidFill>
              </a:rPr>
              <a:t>Automated coupon/email after ~2 weeks of inactivity — recency is the top churn signal.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77800"/>
          <a:lstStyle/>
          <a:p>
            <a:pPr algn="ctr"/>
            <a:r>
              <a:rPr sz="1700" b="1">
                <a:solidFill>
                  <a:srgbClr val="1E2761"/>
                </a:solidFill>
              </a:rPr>
              <a:t>Prioritise complaint resolution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212121"/>
                </a:solidFill>
              </a:rPr>
              <a:t>Fast-track complaint tickets; complainants churn far more often.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749039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77800"/>
          <a:lstStyle/>
          <a:p>
            <a:pPr algn="ctr"/>
            <a:r>
              <a:rPr sz="1700" b="1">
                <a:solidFill>
                  <a:srgbClr val="1E2761"/>
                </a:solidFill>
              </a:rPr>
              <a:t>Target low-satisfaction segments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212121"/>
                </a:solidFill>
              </a:rPr>
              <a:t>Personalised cashback/loyalty offers instead of blanket discounts.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749039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77800"/>
          <a:lstStyle/>
          <a:p>
            <a:pPr algn="ctr"/>
            <a:r>
              <a:rPr sz="1700" b="1">
                <a:solidFill>
                  <a:srgbClr val="1E2761"/>
                </a:solidFill>
              </a:rPr>
              <a:t>Allocate retention budget by score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212121"/>
                </a:solidFill>
              </a:rPr>
              <a:t>Spend proportional to predicted churn probability, not evenly.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E-Commerce Customer Churn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The Streamlit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b="1" sz="1600">
                <a:solidFill>
                  <a:srgbClr val="212121"/>
                </a:solidFill>
                <a:latin typeface="Calibri"/>
              </a:rPr>
              <a:t>●  Enter a customer profile</a:t>
            </a:r>
            <a:r>
              <a:rPr sz="1600">
                <a:solidFill>
                  <a:srgbClr val="212121"/>
                </a:solidFill>
                <a:latin typeface="Calibri"/>
              </a:rPr>
              <a:t> — tenure, satisfaction, order history, complaint status, and more.</a:t>
            </a:r>
          </a:p>
          <a:p>
            <a:pPr algn="l">
              <a:spcAft>
                <a:spcPts val="1800"/>
              </a:spcAft>
            </a:pPr>
            <a:r>
              <a:rPr b="1" sz="1600">
                <a:solidFill>
                  <a:srgbClr val="212121"/>
                </a:solidFill>
                <a:latin typeface="Calibri"/>
              </a:rPr>
              <a:t>●  Get an instant churn probability</a:t>
            </a:r>
            <a:r>
              <a:rPr sz="1600">
                <a:solidFill>
                  <a:srgbClr val="212121"/>
                </a:solidFill>
                <a:latin typeface="Calibri"/>
              </a:rPr>
              <a:t> from the exact same pipeline used in training — no train/serve mismatch.</a:t>
            </a:r>
          </a:p>
          <a:p>
            <a:pPr algn="l">
              <a:spcAft>
                <a:spcPts val="1800"/>
              </a:spcAft>
            </a:pPr>
            <a:r>
              <a:rPr b="1" sz="1600">
                <a:solidFill>
                  <a:srgbClr val="212121"/>
                </a:solidFill>
                <a:latin typeface="Calibri"/>
              </a:rPr>
              <a:t>●  Receive a tailored recommendation</a:t>
            </a:r>
            <a:r>
              <a:rPr sz="1600">
                <a:solidFill>
                  <a:srgbClr val="212121"/>
                </a:solidFill>
                <a:latin typeface="Calibri"/>
              </a:rPr>
              <a:t>: immediate action (≥70% risk), proactive engagement (40-70%), or standard engagement (&lt;40%).</a:t>
            </a:r>
          </a:p>
          <a:p>
            <a:pPr algn="l">
              <a:spcAft>
                <a:spcPts val="1800"/>
              </a:spcAft>
            </a:pPr>
            <a:r>
              <a:rPr b="1" sz="1600">
                <a:solidFill>
                  <a:srgbClr val="212121"/>
                </a:solidFill>
                <a:latin typeface="Calibri"/>
              </a:rPr>
              <a:t>●  See live model metrics</a:t>
            </a:r>
            <a:r>
              <a:rPr sz="1600">
                <a:solidFill>
                  <a:srgbClr val="212121"/>
                </a:solidFill>
                <a:latin typeface="Calibri"/>
              </a:rPr>
              <a:t> in the sidebar for transparency into how the prediction was made.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0" y="1371600"/>
            <a:ext cx="4663440" cy="4297680"/>
          </a:xfrm>
          <a:prstGeom prst="roundRect">
            <a:avLst>
              <a:gd name="adj" fmla="val 6000"/>
            </a:avLst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/>
          <a:lstStyle/>
          <a:p>
            <a:pPr algn="ctr"/>
            <a:r>
              <a:rPr sz="4400"/>
              <a:t>🛒</a:t>
            </a:r>
          </a:p>
          <a:p>
            <a:pPr algn="ctr">
              <a:spcBef>
                <a:spcPts val="1000"/>
              </a:spcBef>
            </a:pPr>
            <a:r>
              <a:rPr sz="2200" b="1">
                <a:solidFill>
                  <a:srgbClr val="1E2761"/>
                </a:solidFill>
              </a:rPr>
              <a:t>Live Demo</a:t>
            </a:r>
          </a:p>
          <a:p>
            <a:pPr algn="ctr">
              <a:spcBef>
                <a:spcPts val="1000"/>
              </a:spcBef>
            </a:pPr>
            <a:r>
              <a:rPr sz="1400">
                <a:solidFill>
                  <a:srgbClr val="595959"/>
                </a:solidFill>
              </a:rPr>
              <a:t>ecommerce-churn-prediction-vym2kejtfbsm8h8we6tmtc.streamlit.app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E-Commerce Customer Churn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GitHub &amp; Deployment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4475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12121"/>
                </a:solidFill>
                <a:latin typeface="Calibri"/>
              </a:rPr>
              <a:t>Code + model + notebook pushed to a public GitHub repository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31343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12121"/>
                </a:solidFill>
                <a:latin typeface="Calibri"/>
              </a:rPr>
              <a:t>requirements.txt pins dependency versions to match the training environment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20040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18211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12121"/>
                </a:solidFill>
                <a:latin typeface="Calibri"/>
              </a:rPr>
              <a:t>Streamlit Community Cloud connected directly to the repo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06908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405079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12121"/>
                </a:solidFill>
                <a:latin typeface="Calibri"/>
              </a:rPr>
              <a:t>Every push to main can be redeployed — live app stays in sync with the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394960"/>
            <a:ext cx="10881360" cy="1005840"/>
          </a:xfrm>
          <a:prstGeom prst="roundRect">
            <a:avLst>
              <a:gd name="adj" fmla="val 6000"/>
            </a:avLst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/>
          <a:lstStyle/>
          <a:p>
            <a:pPr algn="ctr"/>
            <a:r>
              <a:rPr b="1" sz="1400">
                <a:solidFill>
                  <a:srgbClr val="1E2761"/>
                </a:solidFill>
              </a:rPr>
              <a:t>Repo:  </a:t>
            </a:r>
            <a:r>
              <a:rPr sz="1400">
                <a:solidFill>
                  <a:srgbClr val="212121"/>
                </a:solidFill>
              </a:rPr>
              <a:t>github.com/Anny-png-ctrl/ecommerce-churn-prediction</a:t>
            </a:r>
          </a:p>
          <a:p>
            <a:r>
              <a:rPr b="1" sz="1400">
                <a:solidFill>
                  <a:srgbClr val="1E2761"/>
                </a:solidFill>
              </a:rPr>
              <a:t>Live app:  </a:t>
            </a:r>
            <a:r>
              <a:rPr sz="1400">
                <a:solidFill>
                  <a:srgbClr val="212121"/>
                </a:solidFill>
              </a:rPr>
              <a:t>ecommerce-churn-prediction-vym2kejtfbsm8h8we6tmtc.streamlit.app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Calibri"/>
              </a:rPr>
              <a:t>E-Commerce Customer Churn 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377440"/>
            <a:ext cx="94457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0" i="0">
                <a:solidFill>
                  <a:srgbClr val="CADCFC"/>
                </a:solidFill>
                <a:latin typeface="Calibri"/>
              </a:rPr>
              <a:t>A complete, reproducible pipeline — from a real business problem, through a cleaned public dataset and a rigorously evaluated Random Forest model, to a deployed decision-support tool that any business user can act 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2120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Thank you —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FB4E8"/>
                </a:solidFill>
                <a:latin typeface="Calibri"/>
              </a:rPr>
              <a:t>github.com/Anny-png-ctrl/ecommerce-churn-prediction   |   ecommerce-churn-prediction-vym2kejtfbsm8h8we6tmtc.streamlit.app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